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  <a:latin typeface="Segoe UI"/>
              </a:defRPr>
            </a:pPr>
            <a:r>
              <a:t>Optimización de Portafolios con Deep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  <a:latin typeface="Segoe UI"/>
              </a:defRPr>
            </a:pPr>
            <a:r>
              <a:t>Metodología, Formulación MDP y Mecánica de PPO / SAC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Presentación de Avance Metodológico al Profesor Guía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1. Preprocesamiento: Transformación del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Data Split (T=163)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Train: 114 Semanas (70%)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Aprendizaje de la política.</a:t>
            </a:r>
          </a:p>
          <a:p>
            <a:pPr>
              <a:defRPr sz="600" b="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Val: 24 Semanas (15%)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Ajuste de hiperparámetros.</a:t>
            </a:r>
          </a:p>
          <a:p>
            <a:pPr>
              <a:defRPr sz="600" b="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Test: 25 Semanas (15%)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Evaluación Out-of-Sample pura versus GAMS.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7223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Estimación Rolling Ponderada (Evitar Data Leakage)</a:t>
            </a:r>
          </a:p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Se calculan mu (μ) y sigma (σ) por régimen (bear/bull) usando una ventana expansiva, ponderando por la probabilidad HMM observada hasta el periodo t.</a:t>
            </a:r>
          </a:p>
          <a:p>
            <a:pPr>
              <a:defRPr sz="600" b="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1600" b="1">
                <a:solidFill>
                  <a:srgbClr val="FB923C"/>
                </a:solidFill>
                <a:latin typeface="Segoe UI"/>
              </a:defRPr>
            </a:pPr>
            <a:r>
              <a:t>Las variables Mix: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Conformamos una única expectativa uniendo ambos regímenes:</a:t>
            </a:r>
          </a:p>
          <a:p>
            <a:pPr>
              <a:defRPr sz="1400" b="0">
                <a:solidFill>
                  <a:srgbClr val="38BDF8"/>
                </a:solidFill>
                <a:latin typeface="Courier New"/>
              </a:defRPr>
            </a:pPr>
            <a:r>
              <a:t>μ_mix = P(bear)*μ_bear + P(bull)*μ_bull</a:t>
            </a:r>
          </a:p>
          <a:p>
            <a:pPr>
              <a:defRPr sz="1400" b="0">
                <a:solidFill>
                  <a:srgbClr val="38BDF8"/>
                </a:solidFill>
                <a:latin typeface="Courier New"/>
              </a:defRPr>
            </a:pPr>
            <a:r>
              <a:t>σ_mix = P(bear)*σ_bear + P(bull)*σ_bull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840480"/>
            <a:ext cx="72237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Normalización y Aplanamiento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Manejo de Probabilidades (Decisión Clave):</a:t>
            </a: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Dado que P(bear) y P(bull) ya se inyectan en el cálculo de las variables Mix, NO se pasan crudas al agente para evitar colinealidad y redundancia en la red neuronal.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Normalización Z-Score Expansiva:</a:t>
            </a: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Aplicada a variables mix para evitar gradientes explosivos (Vanishing/Exploding Gradients).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2. Proceso de Decisión de Markov (MDP): El Entorno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Estado Interno y Observación (o_t)</a:t>
            </a:r>
          </a:p>
          <a:p>
            <a:pPr>
              <a:defRPr sz="1600" b="1">
                <a:solidFill>
                  <a:srgbClr val="F8FAFC"/>
                </a:solidFill>
                <a:latin typeface="Courier New"/>
              </a:defRPr>
            </a:pPr>
            <a:r>
              <a:t>Estado Interno s_t = (x_t, w_t-1, t)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Capital actual, pesos anteriores y tiempo.</a:t>
            </a:r>
          </a:p>
          <a:p>
            <a:pPr>
              <a:defRPr sz="600" b="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Vector de Observación o_t: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Lo que ve la red neuronal:</a:t>
            </a:r>
          </a:p>
          <a:p>
            <a:pPr>
              <a:defRPr sz="1400" b="0">
                <a:solidFill>
                  <a:srgbClr val="38BDF8"/>
                </a:solidFill>
                <a:latin typeface="Segoe UI"/>
              </a:defRPr>
            </a:pPr>
            <a:r>
              <a:t>• Capital normalizado (x_t / x_0)</a:t>
            </a:r>
          </a:p>
          <a:p>
            <a:pPr>
              <a:defRPr sz="1400" b="0">
                <a:solidFill>
                  <a:srgbClr val="38BDF8"/>
                </a:solidFill>
                <a:latin typeface="Segoe UI"/>
              </a:defRPr>
            </a:pPr>
            <a:r>
              <a:t>• Pesos de periodo anterior (w_SPX, w_CMC)</a:t>
            </a:r>
          </a:p>
          <a:p>
            <a:pPr>
              <a:defRPr sz="1400" b="0">
                <a:solidFill>
                  <a:srgbClr val="38BDF8"/>
                </a:solidFill>
                <a:latin typeface="Segoe UI"/>
              </a:defRPr>
            </a:pPr>
            <a:r>
              <a:t>• Tiempo normalizado (t / T)</a:t>
            </a:r>
          </a:p>
          <a:p>
            <a:pPr>
              <a:defRPr sz="1400" b="0">
                <a:solidFill>
                  <a:srgbClr val="38BDF8"/>
                </a:solidFill>
                <a:latin typeface="Segoe UI"/>
              </a:defRPr>
            </a:pPr>
            <a:r>
              <a:t>• μ_mix, σ_mix estandarizados (Features)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Acción (a_t) y Función de Recompensa (r_t)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El Espacio de Acciones:</a:t>
            </a: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Es el peso continuo asignado a cada activo. Se usa una capa Softmax para asegurar que w_i &gt;= 0 y Suman 1.</a:t>
            </a:r>
          </a:p>
          <a:p>
            <a:pPr>
              <a:defRPr sz="500" b="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Recompensa Media-Varianza (Igual que GAMS):</a:t>
            </a:r>
          </a:p>
          <a:p>
            <a:pPr>
              <a:defRPr sz="1500" b="1">
                <a:solidFill>
                  <a:srgbClr val="FB923C"/>
                </a:solidFill>
                <a:latin typeface="Courier New"/>
              </a:defRPr>
            </a:pPr>
            <a:r>
              <a:t>r_t = w^T μ_mix - λ w^T Σ_mix w - Costos</a:t>
            </a: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Se utilizará λ = 0.10, correspondiente al 'Escenario 2' del modelo GAMS.</a:t>
            </a:r>
          </a:p>
          <a:p>
            <a:pPr>
              <a:defRPr sz="500" b="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Dinámica (Capital y Costos):</a:t>
            </a: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Costos asimétricos: 0.5% SPX, 1.0% CMC200.</a:t>
            </a:r>
          </a:p>
          <a:p>
            <a:pPr>
              <a:defRPr sz="1300" b="0">
                <a:solidFill>
                  <a:srgbClr val="38BDF8"/>
                </a:solidFill>
                <a:latin typeface="Courier New"/>
              </a:defRPr>
            </a:pPr>
            <a:r>
              <a:t>x_{t+1} = x_t (1 + w_t^T R_t - Σ_i c_i |w_{i,t} - w_{i,t-1}|)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3. Bajo el Capó de PPO: Proximal Policy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Recolección (On-Policy)</a:t>
            </a:r>
          </a:p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El agente realiza Rollouts (ej. 2052 pasos, múltiplo exacto de 114 semanas) con la política congelada.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La red no entrega porcentajes directos, entrega una Campana de Gauss (μ, σ) de la cual se muestrean acciones.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El Crítico y la Función Advantage</a:t>
            </a:r>
          </a:p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El Crítico predice V(S_t) (cuánto ganaremos).</a:t>
            </a:r>
          </a:p>
          <a:p>
            <a:pPr>
              <a:defRPr sz="1400" b="0">
                <a:solidFill>
                  <a:srgbClr val="38BDF8"/>
                </a:solidFill>
                <a:latin typeface="Courier New"/>
              </a:defRPr>
            </a:pPr>
            <a:r>
              <a:t>Ventaja (A_t) = Retorno Real - Predicción V(S_t)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Si A_t &gt; 0: La decisión fue inesperadamente buena.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Si A_t &lt; 0: La decisión fue mala.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926080"/>
            <a:ext cx="53035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Actualización: El Clipping y Optimizador</a:t>
            </a:r>
          </a:p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PPO usa ADAM en mini-batches.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Clipping: PPO recorta las actualizaciones (max 20% cambio) para evitar que la red altere sus pesos bruscamente.</a:t>
            </a:r>
          </a:p>
          <a:p>
            <a:pPr>
              <a:defRPr sz="1400" b="0">
                <a:solidFill>
                  <a:srgbClr val="E2E8F0"/>
                </a:solidFill>
                <a:latin typeface="Segoe UI"/>
              </a:defRPr>
            </a:pPr>
            <a:r>
              <a:t>Garantía Constante: Entrenamiento altamente estable (no sufre caídas catastróficas del rendimiento).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4. Bajo el Capó de SAC: Soft Actor-Critic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Replay Buffer y Ecosistema de 5 Redes (Off-Policy)</a:t>
            </a:r>
          </a:p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SAC guarda la experiencia pasada en un Replay Buffer y aprende en cada paso tomando muestras aleatorias (mini-batches).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Utiliza 1 Actor, 2 Críticos Gemelos y 2 Redes Target (rezagadas para dar estabilidad).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Pesimismo y Críticos Q(s, a)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El Truco del Pesimismo: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El Crítico evalúa el valor Q(s,a) de un estado y acción.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SAC toma el valor mínimo entre el Crítico 1 y 2 para evitar el Sobre-Optimismo (Overestimation Bias) clásico en Q-learning continuo.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926080"/>
            <a:ext cx="53035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Exploración: Máxima Entropía y Tau (τ)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Bono de Entropía (α x H):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Recompensa a la red por mantener su campana de Gauss 'ancha' (explorar) vs casarse con una sola decisión tempranamente.</a:t>
            </a:r>
          </a:p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Suavizado Tau (τ = 0.005):</a:t>
            </a:r>
          </a:p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Actualiza las redes Target solo en un 0.5% por paso, aportando alta estabilidad a la volatilidad del mercado.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